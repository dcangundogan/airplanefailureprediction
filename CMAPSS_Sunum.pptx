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8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2 — Özellik Mühendisliği ve Ön İşleme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6012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Özellik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Pencere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Amaç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Rolling Mean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5, 20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Kısa / uzun vade trend yakalama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Rolling Std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Lokal volatilite ve bozunma hızı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First Difference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Anlık değişim hızı (türev)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Normalized Cycle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Motor yaşı 0→1 aralığında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Time in Cycles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Mutlak çalışma süresi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566160"/>
            <a:ext cx="11430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Sensor seçimi: std &gt; 0.01 olan sensörler tutuldu → 10–14 bilgilendirici sensör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Toplam özellik sayısı: ~72 özellik / zaman adımı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Ölçekleme: MinMaxScaler [0, 1] — her dataset için bağımsız fit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Kayar pencere: 30 zaman adımı, stride=1 → sekans bazlı model girişi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Engine-based split: Aynı motor train ve test'te birlikte yer almaz (veri sızıntısı önleme)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3 — Model 1: Random Forest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Mimari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500 ağaç (n_estimators=500)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max_depth=25, max_features=√n, min_samples_leaf=2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class_weight='balanced_subsample' — sınıf dengesizliği için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OOB (out-of-bag) skoru ile ek doğrulama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Temporal yapı yok — özellik mühendisliği zamansal bağlamı taşıyor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Eşik Optimizasyonu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0.05 – 0.95 aralığında eşik taraması (adım=0.01)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Hedef: Recall ≥ 0.90 koşulunda F1 maksimizasyonu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Fallback: Recall ≥ 0.85 ile en yakın eşik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Seçilen eşikler: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  FD001: 0.82   FD002: 0.87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  FD003: 0.80   FD004: 0.87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Görselleştirme: Confusion Matrix · ROC · PR Curve · Feature Importance · Threshold vs Metrik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4 — Random Forest Sonuçları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Timestep Düzeyi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25880"/>
          <a:ext cx="1161287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67.5%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77.7%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97.4%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89.4%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FD002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93.4%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77.4%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91.7%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83.9%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98.2%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93.1%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93.4%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78.2%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84.7%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94.1%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FD004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91.1%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71.9%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90.2%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97.3%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89.1%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Ortalama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92.3%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74.3%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81.6%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Motor Düzeyi  (motor başına max olasılık alınarak)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4114800"/>
          <a:ext cx="11612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88.0%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84.1%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96.4%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89.8%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FD002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90.7%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85.8%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99.3%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92.1%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FD003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90.9%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95.2%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93.0%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FD004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88.3%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84.4%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98.7%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91.0%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Ortalama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89.5%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86.3%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97.4%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Motor düzeyinde F1 = 91.5%  →  timestep'e kıyasla çok daha dengeli; sınıf dengesizliği etkisi azalıyor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5 — Model 2: Transformer Classifier  (415K parametre)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7132320" cy="3200400"/>
          </a:xfrm>
          <a:prstGeom prst="rect">
            <a:avLst/>
          </a:prstGeom>
          <a:solidFill>
            <a:srgbClr val="0D1B2A"/>
          </a:solidFill>
        </p:spPr>
        <p:txBody>
          <a:bodyPr wrap="square">
            <a:spAutoFit/>
          </a:bodyPr>
          <a:lstStyle/>
          <a:p>
            <a:r>
              <a:rPr sz="1000">
                <a:solidFill>
                  <a:srgbClr val="06D6A0"/>
                </a:solidFill>
                <a:latin typeface="Courier New"/>
              </a:rPr>
              <a:t>Input (B, 30, 72)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↓  Linear Projection  →  LayerNorm  →  ReLU  →  Dropout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↓  Sinusoidal Positional Encoding  (max_len=40, d_model=128)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↓  Transformer Encoder ×3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8 attention head  |  d_model=128  |  dim_feedforward=256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↓  Global Average Pooling  (30 zaman adımı → 1 vektör)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↓  LayerNorm → FC(128→64) → GELU → Dropout → FC(64→1)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↓  Binary Çıkış (sigmoid)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960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Eğitim Konfigürasyonu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4206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Kayıp: Focal Loss (α=0.75, γ=2.0)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Optimizer: AdamW  lr=5e-4, wd=1e-4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Scheduler: CosineAnnealingWarmRestarts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T0=10, Tmult=2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Batch: 256  |  Epoch: 60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Early stopping patience: 12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Weighted Random Sampling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Gradient clipping: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2976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Neden Transformer?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09160"/>
            <a:ext cx="7132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Self-attention: tüm zaman adımları birbirini görebilir → uzun menzilli sensör korelasyonu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Focal Loss: hard negative örneklere odaklanarak sınıf dengesizliğini direkt ele alır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Supervised yaklaşım: karar sınırını direkt optimize eder (AE gibi yeniden yapılandırma hatası değil)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A0"/>
                </a:solidFill>
              </a:rPr>
              <a:t>Hedef: Tüm 4 datasette Recall ≥ 0.90, F1 ≥ 0.90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6 — Model 3: Hybrid Transformer  (AE + Classifier, ~1.2M parametre)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Fikir: Autoencoder temsil öğrenimi + supervised sınıflandırmanın tek modelde birleşimi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7772400" cy="3383280"/>
          </a:xfrm>
          <a:prstGeom prst="rect">
            <a:avLst/>
          </a:prstGeom>
          <a:solidFill>
            <a:srgbClr val="0D1B2A"/>
          </a:solidFill>
        </p:spPr>
        <p:txBody>
          <a:bodyPr wrap="square">
            <a:spAutoFit/>
          </a:bodyPr>
          <a:lstStyle/>
          <a:p>
            <a:r>
              <a:rPr sz="1000">
                <a:solidFill>
                  <a:srgbClr val="06D6A0"/>
                </a:solidFill>
                <a:latin typeface="Courier New"/>
              </a:rPr>
              <a:t>Ortak Encoder  (Multi-Head Self-Attention, 3 katman)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│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├──→  Decoder Dalı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│         TransformerDecoder ×2  (cross-attention)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│         Output Projection  →  Reconstruction (MSE Loss)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│         Per-feature yeniden yapılandırma hatası hesaplanır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│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└──→  Sınıflandırıcı Dalı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        Giriş: [latent ⊕ recon_hata_skaler ⊕ recon_hata_per_özellik]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        LayerNorm → Linear → GELU → Dropout → Binary Çıkış (Focal Loss)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Birleşik Kayıp Fonksiyonu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566160" cy="2286000"/>
          </a:xfrm>
          <a:prstGeom prst="rect">
            <a:avLst/>
          </a:prstGeom>
          <a:solidFill>
            <a:srgbClr val="0D1B2A"/>
          </a:solidFill>
        </p:spPr>
        <p:txBody>
          <a:bodyPr wrap="square">
            <a:spAutoFit/>
          </a:bodyPr>
          <a:lstStyle/>
          <a:p>
            <a:r>
              <a:rPr sz="1000">
                <a:solidFill>
                  <a:srgbClr val="06D6A0"/>
                </a:solidFill>
                <a:latin typeface="Courier New"/>
              </a:rPr>
              <a:t>Total Loss =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λ_cls  × Focal_Loss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+ λ_recon × MSE_Loss</a:t>
            </a:r>
          </a:p>
          <a:p>
            <a:endParaRPr sz="1000">
              <a:solidFill>
                <a:srgbClr val="06D6A0"/>
              </a:solidFill>
              <a:latin typeface="Courier New"/>
            </a:endParaRP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λ_cls  = 1.0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λ_recon = 0.3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983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Avantajı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349240"/>
            <a:ext cx="11430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Sınıflandırıcı: hem öğrenilmiş latent temsili hem yeniden yapılandırma hatasını kullanır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Yeniden yapılandırma hatası → saf sınıflandırıcının kaçırdığı ek anomali sinyali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Ortak encoder: her iki dal aynı temsili paylaşır; gradyanlar ikisinden birden akar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7 — Model 4: Hybrid TCN-Transformer  (1.15M parametre, FD001)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7498079" cy="4389120"/>
          </a:xfrm>
          <a:prstGeom prst="rect">
            <a:avLst/>
          </a:prstGeom>
          <a:solidFill>
            <a:srgbClr val="0D1B2A"/>
          </a:solidFill>
        </p:spPr>
        <p:txBody>
          <a:bodyPr wrap="square">
            <a:spAutoFit/>
          </a:bodyPr>
          <a:lstStyle/>
          <a:p>
            <a:r>
              <a:rPr sz="1000">
                <a:solidFill>
                  <a:srgbClr val="06D6A0"/>
                </a:solidFill>
                <a:latin typeface="Courier New"/>
              </a:rPr>
              <a:t>Input (B, 30, D)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├──→ Multi-Scale TCN  (kernel=3, 5, 7 paralel dal)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│       Dilated conv (d=2^i) · Kausal · Residual bağlantı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│       Çıkış: (B, 30, 128)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│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├──→ Transformer Encoder  (8 head, 3 katman, learnable PE)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│       Pre-norm mimari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│       Çıkış: (B, 30, 128)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│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└──→ Çift Yönlü Cross-Attention Füzyonu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     TCN → Transformer  ve  Transformer → TCN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     Feature Attention Gate  (SE-style kanal ağırlıklandırma)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     Temporal Attention Pooling  (önemli zaman adımlarını seç)</a:t>
            </a:r>
          </a:p>
          <a:p>
            <a:r>
              <a:rPr sz="1000">
                <a:solidFill>
                  <a:srgbClr val="06D6A0"/>
                </a:solidFill>
                <a:latin typeface="Courier New"/>
              </a:rPr>
              <a:t>              Sınıflandırma Kafası: Linear→GELU→BN→Dropout→Linear→GELU→Dropout→Çıkış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9601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Ekstra Teknikler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Mixup augmentation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α=0.2, %50 olasılık/batch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Label smoothing: 0.05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ReduceLROnPlateau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patience=10, factor=0.5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Engine-based val split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(veri sızıntısı önleme)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Focal Loss α=0.75, γ=2.0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Gradient clipping: 1.0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Early stopping patience: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309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Eğitim: batch=64, epoch=150, lr=3e-4  |  Toplam süre: ~330 sn  |  34 epoch'ta durdu  |  Best val F1: 0.849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8 — Hybrid TCN-Transformer Sonuçları  (FD001, Threshold=0.56)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Eğitim Seti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25880"/>
          <a:ext cx="566928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99.39%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96.87%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99.73%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98.28%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99.99%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166"/>
                </a:solidFill>
              </a:rPr>
              <a:t>Test Seti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325880"/>
          <a:ext cx="566928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98.17%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80.85%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57.23%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67.02%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99.23%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2377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Train-Test Performans Uçurumu — Analiz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2788920"/>
          <a:ext cx="11612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Eğitim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Fark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99.73%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57.23%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− 42.5 pp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98.28%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67.02%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− 31.3 pp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96.87%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80.85%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− 16.0 pp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99.99%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99.23%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− 0.76 pp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Temel Neden: Distribution Shift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5349240"/>
            <a:ext cx="11430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Eğitim anomali oranı: %17.5  →  Test anomali oranı: %3.3  (5× daha az)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Düşük anomali oranı recall'u baskılıyor; eşik düşürülerek iyileştirilebilir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CCCC"/>
                </a:solidFill>
              </a:rPr>
              <a:t>  •  AUC-ROC test'te 99.23% — modelin sıralama kabiliyeti bozulmamış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9 — Model Karşılaştırması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6012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Parametre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Avg F1 (ts)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Avg Recall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FD001–4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81.6%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91.4%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Transformer Classifier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415K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FD001–4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≥ 90%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≥ 90%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&gt; 95%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Hybrid Transformer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~1.2M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FD001–4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≥ 80%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≥ 90%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&gt; 95%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TCN-Transformer (train)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1.15M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98.3%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99.7%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99.99%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TCN-Transformer (test)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1.15M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FD001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67.0%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57.2%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99.2%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Sınıf Dengesizliği Yaklaşımları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8862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Yöntem</a:t>
                      </a:r>
                    </a:p>
                  </a:txBody>
                  <a:tcPr>
                    <a:solidFill>
                      <a:srgbClr val="005F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Random Forest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balanced_subsample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Transformer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Focal Loss + Weighted Sampling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Hybrid Transformer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Focal Loss + MSE (joint)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TCN-Transformer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CCCCC"/>
                          </a:solidFill>
                        </a:rPr>
                        <a:t>Weighted Sampling + Mixup</a:t>
                      </a:r>
                    </a:p>
                  </a:txBody>
                  <a:tcPr>
                    <a:solidFill>
                      <a:srgbClr val="0F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347472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Temporal Modelleme Farkları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88620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Random Forest: temporal yapı yok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(özellik müh. bağlamı taşıyor)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Transformer: global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(tüm adımlar birbirini görür)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TCN: lokal dilated conv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(multi-scale, kausal)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TCN-Transformer: çift yönlü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CCCCC"/>
                </a:solidFill>
              </a:rPr>
              <a:t>  •    cross-attention füzyonu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4D8"/>
                </a:solidFill>
              </a:rPr>
              <a:t>Slayt 10 — Temel Bulgular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116128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Eşik optimizasyonu zorunlu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Varsayılan 0.5 tüm modellerde yetersiz. Optimal eşikler 0.56–0.87 arasında; recall hedefi (≥0.90) ancak tuning ile yakalanıyor.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91440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914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Motor düzeyi &gt; Timestep düzeyi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26187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RF'de timestep F1=81.6% iken motor F1=91.5%. Sınıf dengesizliği motor düzeyinde büyük ölçüde dengeleniyor.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60604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060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Focal Loss kritik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Standart cross-entropy'ye kıyasla yüksek recall hedeflerinde belirgin avantaj. α=0.75, γ=2.0 optimal bulundu.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60604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60604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Özellik mühendisliği hâlâ önemli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95351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Rolling istatistikler ve fark özellikleri, RF feature importance sıralamasında ham sensörleri geride bırakıyor.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29768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Dağılım kayması gerçek sorun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64515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TCN-Transformer: train recall %99.7 → test recall %57.2. AUC-ROC ise 99.2% — sıralama kabiliyeti korunuyor, eşik kaydırılabilir.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29768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29768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Supervised &gt; Unsupervised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645152"/>
            <a:ext cx="5349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Saf autoencoder kademeli bozunmayı yakalamakta güçlük çekiyor. Supervised / hibrit yaklaşımlar belirgin üstünlük sağlıyor.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5989320"/>
            <a:ext cx="36576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98932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166"/>
                </a:solidFill>
              </a:rPr>
              <a:t>Multi-scale temporal modelleme değerli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6336792"/>
            <a:ext cx="5532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</a:rPr>
              <a:t>TCN'nin paralel kernel=3,5,7 dalları hem kısa hem uzun vadeli örüntüleri aynı anda yakalıyor.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1580</Words>
  <Application>Microsoft Office PowerPoint</Application>
  <PresentationFormat>Custom</PresentationFormat>
  <Paragraphs>315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Duygu Can Gündoğan</cp:lastModifiedBy>
  <cp:revision>2</cp:revision>
  <dcterms:created xsi:type="dcterms:W3CDTF">2013-01-27T09:14:16Z</dcterms:created>
  <dcterms:modified xsi:type="dcterms:W3CDTF">2026-03-01T09:00:17Z</dcterms:modified>
  <cp:category/>
</cp:coreProperties>
</file>